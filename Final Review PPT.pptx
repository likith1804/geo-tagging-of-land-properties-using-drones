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57" r:id="rId4"/>
    <p:sldId id="274" r:id="rId5"/>
    <p:sldId id="275" r:id="rId6"/>
    <p:sldId id="276" r:id="rId7"/>
    <p:sldId id="273" r:id="rId8"/>
    <p:sldId id="272" r:id="rId9"/>
    <p:sldId id="268" r:id="rId10"/>
    <p:sldId id="277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D455D4D-2852-62C6-3A05-B0A688E7F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C3CEBB1B-B06F-8B48-5D0F-5A2B20F455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BA3E15C-BB22-4AC6-24D4-71DB521B6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9287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33CF217-E664-9AC9-BEED-D59FD05E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CC2FEF2A-9BCD-9096-EBC9-23223A8921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66E30C1E-57C9-11B8-F7C1-BD08DD191D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7661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BAC0D70F-5A2F-3169-57F8-6D406208D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1F8FA91-3433-5039-F2C2-EAA2283AF5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EFAE18F1-C005-F088-E9B8-6A61745B8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7583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D985A27C-E9D2-0BFC-37DF-8E53B7093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53C60444-FCB1-1B14-01AA-F296F079B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561B6DD-C0B3-3693-EB8B-E28DA800B6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64415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kith1804/Geo-Tagging-of-Land-Properties-Using-Drone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1205.5742.pdf" TargetMode="External"/><Relationship Id="rId3" Type="http://schemas.openxmlformats.org/officeDocument/2006/relationships/hyperlink" Target="https://ris.utwente.nl/ws/files/284378453/Xia_2019_Extracting_cadastral_boundaries_fro.pdf" TargetMode="External"/><Relationship Id="rId7" Type="http://schemas.openxmlformats.org/officeDocument/2006/relationships/hyperlink" Target="https://arxiv.org/pdf/1203.2386.pdf" TargetMode="External"/><Relationship Id="rId12" Type="http://schemas.openxmlformats.org/officeDocument/2006/relationships/hyperlink" Target="https://www.tandfonline.com/doi/pdf/10.1080/10106049.2024.2357690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108.03344.pdf" TargetMode="External"/><Relationship Id="rId11" Type="http://schemas.openxmlformats.org/officeDocument/2006/relationships/hyperlink" Target="https://arxiv.org/pdf/2508.14558.pdf" TargetMode="External"/><Relationship Id="rId5" Type="http://schemas.openxmlformats.org/officeDocument/2006/relationships/hyperlink" Target="https://research.utwente.nl/files/121598376/Crommelinck_2019_Towards_Cadastral_Intelligenc.pdf" TargetMode="External"/><Relationship Id="rId10" Type="http://schemas.openxmlformats.org/officeDocument/2006/relationships/hyperlink" Target="https://ntnuopen.ntnu.no/ntnu-xmlui/bitstream/handle/11250/2673476/Instant%20bridge%20visual%20inspection%20using%20an%20unmanned%20aerial%20vehicle.pdf" TargetMode="External"/><Relationship Id="rId4" Type="http://schemas.openxmlformats.org/officeDocument/2006/relationships/hyperlink" Target="https://arxiv.org/pdf/1709.01813" TargetMode="External"/><Relationship Id="rId9" Type="http://schemas.openxmlformats.org/officeDocument/2006/relationships/hyperlink" Target="https://arxiv.org/pdf/2502.11044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Geo Tagging of Land Properties Using Drones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IN" sz="1800" dirty="0"/>
              <a:t>CSG_30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192649" y="2513339"/>
            <a:ext cx="4839551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GB" sz="18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GB"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</a:t>
            </a: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Riya Sanjesh</a:t>
            </a:r>
            <a:endParaRPr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86409593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Final Review - 5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95022" y="4742400"/>
            <a:ext cx="11937178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B-tech, CST-AIML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Saira Banu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H M Manjula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5D55F6-16C8-BDC3-2097-A16E3457F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68" y="2513339"/>
            <a:ext cx="5911990" cy="1960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/>
              <a:t>PSCS_700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Both Hardware &amp;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This problem invites the development of a novel solution leveraging digital technology to address societal or administrative challenges within public services, sustainability, or governance.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89794" y="762138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latin typeface="Cambria" panose="02040503050406030204" pitchFamily="18" charset="0"/>
                <a:ea typeface="Cambria" panose="02040503050406030204" pitchFamily="18" charset="0"/>
              </a:rPr>
              <a:t>Git-hub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96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96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27C7217-D95A-667B-80F0-C475F5E7F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A3F09AE7-9BEF-884C-290D-AB594FC65F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58959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Statement: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3797FC7F-FC6C-0468-47E2-2073B17506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2000" y="1466850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Inaccurate land records and disputes over property boundaries are major challenges in land administration. Traditional surveying methods are often time-consuming, labor-intensive, and prone to human error. In rural and urban settings, lack of proper geospatial tagging leads to legal disputes, encroachments, and inefficiencies in land management.</a:t>
            </a:r>
          </a:p>
          <a:p>
            <a:pPr marL="76200" indent="0" algn="just">
              <a:buNone/>
            </a:pP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need for a cost-effective, accurate, and scalable solution is crucial. Drones equipped with GPS and high-resolution imaging capabilities can provide an efficient means of capturing real-time geospatial data for land properties, enabling accurate geo-tagging and digital record creation.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82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9212837C-3955-236E-9D1C-2A32C74AC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09BACDD-CA99-FEEC-767D-4651652C2B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35591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r>
              <a:rPr lang="en-US" dirty="0"/>
              <a:t>:</a:t>
            </a: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78FE3957-AA45-9BA7-5F0E-A9C6B5E7BC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8142" y="152723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design a drone-based system for capturing high-resolution aerial images of land areas.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integrate GPS data with captured images for accurate geo-tagging of land properties.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process aerial images using GIS (Geographical Information System) tools for boundary detection and mapping.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store geo-tagged property data in a secure, retrievable digital database.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develop a user-friendly interface for government agencies, surveyors, and property owners to access verified land records.</a:t>
            </a:r>
          </a:p>
        </p:txBody>
      </p:sp>
    </p:spTree>
    <p:extLst>
      <p:ext uri="{BB962C8B-B14F-4D97-AF65-F5344CB8AC3E}">
        <p14:creationId xmlns:p14="http://schemas.microsoft.com/office/powerpoint/2010/main" val="386467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15711B7F-9435-54A1-BC5E-EBE0B39C7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8BC1868C-AFEE-D4BA-797F-1818BBD4B1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35591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Work:</a:t>
            </a: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7980008A-490D-A2CD-82EA-5E73478EA6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8142" y="152723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Traditional Methods: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Land surveying with theodolites, chains, or handheld GPS devices requires skilled personnel and is slow in covering large areas.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Emerging Technologies: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Drone-based surveys have been successfully used in agriculture, infrastructure inspection, and disaster management due to their speed, accuracy, and cost-effectiveness.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Related Work: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Indian government's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Digital India Land Records Modernization Program  (DILRMP)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aims at digitizing land records but still relies heavily on manual surveys.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Projects like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Google Earth Engine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have demonstrated the potential of aerial imaging for mapping, though not specifically for land ownership verification.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Some startups are integrating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UAVs with GIS platforms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to automate boundary detection and documentation.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project builds on these advancements but specifically focuses on accurate, scalable geo-tagging of individual land parcels for legal and administrative purposes.</a:t>
            </a:r>
          </a:p>
        </p:txBody>
      </p:sp>
    </p:spTree>
    <p:extLst>
      <p:ext uri="{BB962C8B-B14F-4D97-AF65-F5344CB8AC3E}">
        <p14:creationId xmlns:p14="http://schemas.microsoft.com/office/powerpoint/2010/main" val="347729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Analysis: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Inaccurate land records → disputes, encroachments.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Manual surveys → slow, costly, prone to errors.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Fragmented/unsafe data storage.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Lack of uniform tech-driven surveying standards.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Opportunities: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Drones with RTK GPS → cm-level accuracy.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Automated aerial image processing &amp; GIS integration.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Secure cloud/blockchain storage for tamper-proof records.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Impact: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80% faster surveys.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Verifiable digital proof of boundaries.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Efficient digitization of land records.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Supports smart city &amp;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CDF9E6-70D8-0E41-DF96-F073B3D4D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577034"/>
              </p:ext>
            </p:extLst>
          </p:nvPr>
        </p:nvGraphicFramePr>
        <p:xfrm>
          <a:off x="812800" y="2475872"/>
          <a:ext cx="10668000" cy="3170784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3134643156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3456995453"/>
                    </a:ext>
                  </a:extLst>
                </a:gridCol>
              </a:tblGrid>
              <a:tr h="528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Hardware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Software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585461"/>
                  </a:ext>
                </a:extLst>
              </a:tr>
              <a:tr h="528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Drone with GPS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Python, OpenCV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3826"/>
                  </a:ext>
                </a:extLst>
              </a:tr>
              <a:tr h="528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HD Camera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QGIS / ArcGIS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664617"/>
                  </a:ext>
                </a:extLst>
              </a:tr>
              <a:tr h="528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Onboard Computer (Raspberry Pi / Jetson Nano)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 (MySQL / PostgreSQL)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931105"/>
                  </a:ext>
                </a:extLst>
              </a:tr>
              <a:tr h="528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Battery (30+ min)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(AWS / GCP)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241957"/>
                  </a:ext>
                </a:extLst>
              </a:tr>
              <a:tr h="528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 (MicroSD/SSD)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Flask / Django (UI)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226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Link of the Project: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660400" y="153035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Source Code Repository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https://github.com/Likith1804/Geo-Tagging-of-Land-Properties-Using-Drones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90C462B9-3D92-9AED-B80B-FDF058B29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040F21DA-453B-EEAC-9BE8-B84F694BE6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18F9A69A-BAD3-C741-AC84-B155448F8B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>
            <a:extLst>
              <a:ext uri="{FF2B5EF4-FFF2-40B4-BE49-F238E27FC236}">
                <a16:creationId xmlns:a16="http://schemas.microsoft.com/office/drawing/2014/main" id="{B4DD0889-D297-C350-B078-F16C7AC3CA83}"/>
              </a:ext>
            </a:extLst>
          </p:cNvPr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>
            <a:extLst>
              <a:ext uri="{FF2B5EF4-FFF2-40B4-BE49-F238E27FC236}">
                <a16:creationId xmlns:a16="http://schemas.microsoft.com/office/drawing/2014/main" id="{75606C3C-B857-AFD0-CD6F-D2443EFD85D3}"/>
              </a:ext>
            </a:extLst>
          </p:cNvPr>
          <p:cNvSpPr txBox="1">
            <a:spLocks/>
          </p:cNvSpPr>
          <p:nvPr/>
        </p:nvSpPr>
        <p:spPr>
          <a:xfrm>
            <a:off x="660400" y="153035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CF4942-D270-C7D6-E774-15CC11ADB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075" y="1668027"/>
            <a:ext cx="3966329" cy="2644219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2C1911-2B58-C51D-1111-F815B5CCB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212172"/>
              </p:ext>
            </p:extLst>
          </p:nvPr>
        </p:nvGraphicFramePr>
        <p:xfrm>
          <a:off x="504596" y="1061220"/>
          <a:ext cx="7162275" cy="5000220"/>
        </p:xfrm>
        <a:graphic>
          <a:graphicData uri="http://schemas.openxmlformats.org/drawingml/2006/table">
            <a:tbl>
              <a:tblPr/>
              <a:tblGrid>
                <a:gridCol w="2387425">
                  <a:extLst>
                    <a:ext uri="{9D8B030D-6E8A-4147-A177-3AD203B41FA5}">
                      <a16:colId xmlns:a16="http://schemas.microsoft.com/office/drawing/2014/main" val="1002513696"/>
                    </a:ext>
                  </a:extLst>
                </a:gridCol>
                <a:gridCol w="2387425">
                  <a:extLst>
                    <a:ext uri="{9D8B030D-6E8A-4147-A177-3AD203B41FA5}">
                      <a16:colId xmlns:a16="http://schemas.microsoft.com/office/drawing/2014/main" val="2649915607"/>
                    </a:ext>
                  </a:extLst>
                </a:gridCol>
                <a:gridCol w="2387425">
                  <a:extLst>
                    <a:ext uri="{9D8B030D-6E8A-4147-A177-3AD203B41FA5}">
                      <a16:colId xmlns:a16="http://schemas.microsoft.com/office/drawing/2014/main" val="3922264776"/>
                    </a:ext>
                  </a:extLst>
                </a:gridCol>
              </a:tblGrid>
              <a:tr h="297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Phase</a:t>
                      </a:r>
                      <a:endParaRPr lang="en-IN" sz="145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45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Duration</a:t>
                      </a:r>
                      <a:endParaRPr lang="en-IN" sz="14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88704"/>
                  </a:ext>
                </a:extLst>
              </a:tr>
              <a:tr h="116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Phase 1 </a:t>
                      </a:r>
                      <a:endParaRPr lang="en-IN" sz="145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Planning &amp; Research – Requirement analysis, literature review, hardware &amp; software 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Week 1 – Week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517677"/>
                  </a:ext>
                </a:extLst>
              </a:tr>
              <a:tr h="116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Phase 2</a:t>
                      </a:r>
                      <a:endParaRPr lang="en-IN" sz="145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System Development – Drone setup, GPS integration, image capture protocol, GIS processing module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Week 4 – Week 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846872"/>
                  </a:ext>
                </a:extLst>
              </a:tr>
              <a:tr h="116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Phase 3</a:t>
                      </a:r>
                      <a:endParaRPr lang="en-IN" sz="145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Implementation &amp; Testing – Field trials, data collection, boundary detection, database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Week 9 – Week 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0273824"/>
                  </a:ext>
                </a:extLst>
              </a:tr>
              <a:tr h="1163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Phase 4</a:t>
                      </a:r>
                      <a:endParaRPr lang="en-IN" sz="145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5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Finalization &amp; Deployment – User interface, documentation, final testing, project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5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Week 13 – Week 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521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17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A137A5-8FC2-A4E9-0F4C-FE498AFFD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14188"/>
              </p:ext>
            </p:extLst>
          </p:nvPr>
        </p:nvGraphicFramePr>
        <p:xfrm>
          <a:off x="212361" y="1028598"/>
          <a:ext cx="11767278" cy="5260752"/>
        </p:xfrm>
        <a:graphic>
          <a:graphicData uri="http://schemas.openxmlformats.org/drawingml/2006/table">
            <a:tbl>
              <a:tblPr/>
              <a:tblGrid>
                <a:gridCol w="1888195">
                  <a:extLst>
                    <a:ext uri="{9D8B030D-6E8A-4147-A177-3AD203B41FA5}">
                      <a16:colId xmlns:a16="http://schemas.microsoft.com/office/drawing/2014/main" val="1708458611"/>
                    </a:ext>
                  </a:extLst>
                </a:gridCol>
                <a:gridCol w="2846176">
                  <a:extLst>
                    <a:ext uri="{9D8B030D-6E8A-4147-A177-3AD203B41FA5}">
                      <a16:colId xmlns:a16="http://schemas.microsoft.com/office/drawing/2014/main" val="2955356556"/>
                    </a:ext>
                  </a:extLst>
                </a:gridCol>
                <a:gridCol w="1116873">
                  <a:extLst>
                    <a:ext uri="{9D8B030D-6E8A-4147-A177-3AD203B41FA5}">
                      <a16:colId xmlns:a16="http://schemas.microsoft.com/office/drawing/2014/main" val="3696271735"/>
                    </a:ext>
                  </a:extLst>
                </a:gridCol>
                <a:gridCol w="1240284">
                  <a:extLst>
                    <a:ext uri="{9D8B030D-6E8A-4147-A177-3AD203B41FA5}">
                      <a16:colId xmlns:a16="http://schemas.microsoft.com/office/drawing/2014/main" val="1689911238"/>
                    </a:ext>
                  </a:extLst>
                </a:gridCol>
                <a:gridCol w="413429">
                  <a:extLst>
                    <a:ext uri="{9D8B030D-6E8A-4147-A177-3AD203B41FA5}">
                      <a16:colId xmlns:a16="http://schemas.microsoft.com/office/drawing/2014/main" val="3238373100"/>
                    </a:ext>
                  </a:extLst>
                </a:gridCol>
                <a:gridCol w="3049163">
                  <a:extLst>
                    <a:ext uri="{9D8B030D-6E8A-4147-A177-3AD203B41FA5}">
                      <a16:colId xmlns:a16="http://schemas.microsoft.com/office/drawing/2014/main" val="2435645373"/>
                    </a:ext>
                  </a:extLst>
                </a:gridCol>
                <a:gridCol w="33796">
                  <a:extLst>
                    <a:ext uri="{9D8B030D-6E8A-4147-A177-3AD203B41FA5}">
                      <a16:colId xmlns:a16="http://schemas.microsoft.com/office/drawing/2014/main" val="2500577614"/>
                    </a:ext>
                  </a:extLst>
                </a:gridCol>
                <a:gridCol w="33796">
                  <a:extLst>
                    <a:ext uri="{9D8B030D-6E8A-4147-A177-3AD203B41FA5}">
                      <a16:colId xmlns:a16="http://schemas.microsoft.com/office/drawing/2014/main" val="2130872821"/>
                    </a:ext>
                  </a:extLst>
                </a:gridCol>
                <a:gridCol w="33796">
                  <a:extLst>
                    <a:ext uri="{9D8B030D-6E8A-4147-A177-3AD203B41FA5}">
                      <a16:colId xmlns:a16="http://schemas.microsoft.com/office/drawing/2014/main" val="2276711075"/>
                    </a:ext>
                  </a:extLst>
                </a:gridCol>
                <a:gridCol w="1111770">
                  <a:extLst>
                    <a:ext uri="{9D8B030D-6E8A-4147-A177-3AD203B41FA5}">
                      <a16:colId xmlns:a16="http://schemas.microsoft.com/office/drawing/2014/main" val="816029867"/>
                    </a:ext>
                  </a:extLst>
                </a:gridCol>
              </a:tblGrid>
              <a:tr h="3210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Authors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Title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Journal/Conference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Volume/Issue/Pages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Year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Link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115049"/>
                  </a:ext>
                </a:extLst>
              </a:tr>
              <a:tr h="63817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J. Xia, J. Li, H. Wang, and M. Lemmen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Extracting cadastral boundaries from UAV imagery using deep learning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Int. Arch. Photogramm. Remote Sens. Spatial Inf. Sci.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vol. XLII-2/W13, pp. 1–8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2019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mbria" panose="02040503050406030204" pitchFamily="18" charset="0"/>
                          <a:hlinkClick r:id="rId3"/>
                        </a:rPr>
                        <a:t>https://ris.utwente.nl/ws/files/284378453/Xia_2019_Extracting_cadastral_boundaries_fro.pdf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198" marR="4198" marT="419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346509"/>
                  </a:ext>
                </a:extLst>
              </a:tr>
              <a:tr h="3656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A. Radwan and M. E. Hassib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Geo-localization using aerial imagery: Progress and future outlook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arXiv preprint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arXiv:1709.01813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2017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mbria" panose="02040503050406030204" pitchFamily="18" charset="0"/>
                          <a:hlinkClick r:id="rId4"/>
                        </a:rPr>
                        <a:t>https://arxiv.org/pdf/1709.01813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198" marR="4198" marT="419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929111"/>
                  </a:ext>
                </a:extLst>
              </a:tr>
              <a:tr h="5759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nl-NL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S. Crommelinck, M. Koeva, and M. Gerke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Towards cadastral intelligence: Boundary delineation from UAV imagery using deep learning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Remote Sens.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vol. 11, no. 14, p. 1725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2019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mbria" panose="02040503050406030204" pitchFamily="18" charset="0"/>
                          <a:hlinkClick r:id="rId5"/>
                        </a:rPr>
                        <a:t>https://research.utwente.nl/files/121598376/Crommelinck_2019_Towards_Cadastral_Intelligenc.pdf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198" marR="4198" marT="419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117428"/>
                  </a:ext>
                </a:extLst>
              </a:tr>
              <a:tr h="3210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J. Wang, L. Zhang, and Z. Chen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Cross-view geo-localization with aerial and ground images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arXiv preprint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arXiv:2108.03344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2021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sng" strike="noStrike" dirty="0">
                          <a:solidFill>
                            <a:srgbClr val="0000FF"/>
                          </a:solidFill>
                          <a:effectLst/>
                          <a:latin typeface="Cambria" panose="02040503050406030204" pitchFamily="18" charset="0"/>
                          <a:hlinkClick r:id="rId6"/>
                        </a:rPr>
                        <a:t>https://arxiv.org/pdf/2108.03344.pdf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198" marR="4198" marT="419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882818"/>
                  </a:ext>
                </a:extLst>
              </a:tr>
              <a:tr h="8176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T. Weyand, I. Kostrikov, and J. Philbin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Planet-photo geolocation with convolutional neural networks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arXiv preprint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arXiv:1203.2386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2012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mbria" panose="02040503050406030204" pitchFamily="18" charset="0"/>
                          <a:hlinkClick r:id="rId7"/>
                        </a:rPr>
                        <a:t>https://arxiv.org/pdf/1203.2386.pdf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198" marR="4198" marT="419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198" marR="4198" marT="41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198" marR="4198" marT="41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198" marR="4198" marT="41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198" marR="4198" marT="419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086383"/>
                  </a:ext>
                </a:extLst>
              </a:tr>
              <a:tr h="3748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J. Hays and A. A. Efros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IM2GPS: Estimating geographic information from a single image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arXiv preprint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arXiv:1205.5742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2012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mbria" panose="02040503050406030204" pitchFamily="18" charset="0"/>
                          <a:hlinkClick r:id="rId8"/>
                        </a:rPr>
                        <a:t>https://arxiv.org/pdf/1205.5742.pdf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198" marR="4198" marT="419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351736"/>
                  </a:ext>
                </a:extLst>
              </a:tr>
              <a:tr h="3210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H. Chen, Z. Li, and W. Sun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Drone-based geo-localization using multi-modal data fusion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arXiv preprint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arXiv:2502.11044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2025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mbria" panose="02040503050406030204" pitchFamily="18" charset="0"/>
                          <a:hlinkClick r:id="rId9"/>
                        </a:rPr>
                        <a:t>https://arxiv.org/pdf/2502.11044.pdf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198" marR="4198" marT="419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38644"/>
                  </a:ext>
                </a:extLst>
              </a:tr>
              <a:tr h="63817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M. K. Petersen, S. O. Andersen, and T. G. Santos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Instant bridge visual inspection using an unmanned aerial vehicle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NTNU Open Archive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Master Thesis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2020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mbria" panose="02040503050406030204" pitchFamily="18" charset="0"/>
                          <a:hlinkClick r:id="rId10"/>
                        </a:rPr>
                        <a:t>https://ntnuopen.ntnu.no/ntnu-xmlui/bitstream/handle/11250/2673476/Instant%20bridge%20visual%20inspection%20using%20an%20unmanned%20aerial%20vehicle.pdf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198" marR="4198" marT="419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604416"/>
                  </a:ext>
                </a:extLst>
              </a:tr>
              <a:tr h="3748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K. Liu, F. Zhang, and J. Luo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Semantic aerial-ground image geo-localization with contrastive learning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arXiv preprint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arXiv:2508.14558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2025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sng" strike="noStrike">
                          <a:solidFill>
                            <a:srgbClr val="0000FF"/>
                          </a:solidFill>
                          <a:effectLst/>
                          <a:latin typeface="Cambria" panose="02040503050406030204" pitchFamily="18" charset="0"/>
                          <a:hlinkClick r:id="rId11"/>
                        </a:rPr>
                        <a:t>https://arxiv.org/pdf/2508.14558.pdf</a:t>
                      </a:r>
                      <a:endParaRPr lang="en-US" sz="1100" b="0" i="0" u="sng" strike="noStrike">
                        <a:solidFill>
                          <a:srgbClr val="0000FF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198" marR="4198" marT="419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842244"/>
                  </a:ext>
                </a:extLst>
              </a:tr>
              <a:tr h="3839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D. Li, Y. Zhao, and H. Huang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Deep learning for cadastral mapping: Opportunities and challenges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Geocarto Int.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pp. 1–19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2024</a:t>
                      </a:r>
                    </a:p>
                  </a:txBody>
                  <a:tcPr marL="4198" marR="4198" marT="41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sng" strike="noStrike" dirty="0">
                          <a:solidFill>
                            <a:srgbClr val="0000FF"/>
                          </a:solidFill>
                          <a:effectLst/>
                          <a:latin typeface="Cambria" panose="02040503050406030204" pitchFamily="18" charset="0"/>
                          <a:hlinkClick r:id="rId12"/>
                        </a:rPr>
                        <a:t>https://www.tandfonline.com/doi/pdf/10.1080/10106049.2024.2357690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4198" marR="4198" marT="419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97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1246</Words>
  <Application>Microsoft Office PowerPoint</Application>
  <PresentationFormat>Widescreen</PresentationFormat>
  <Paragraphs>175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</vt:lpstr>
      <vt:lpstr>Verdana</vt:lpstr>
      <vt:lpstr>Wingdings</vt:lpstr>
      <vt:lpstr>Bioinformatics</vt:lpstr>
      <vt:lpstr>Geo Tagging of Land Properties Using Drones</vt:lpstr>
      <vt:lpstr>Problem Statement Number: PSCS_700</vt:lpstr>
      <vt:lpstr>Content</vt:lpstr>
      <vt:lpstr>Problem Statement: </vt:lpstr>
      <vt:lpstr>Objectives:</vt:lpstr>
      <vt:lpstr>Background and Related Work:</vt:lpstr>
      <vt:lpstr>Analysis of Problem Statement:</vt:lpstr>
      <vt:lpstr>Analysis of Problem Statement (contd...)</vt:lpstr>
      <vt:lpstr>Github Link of the Project:</vt:lpstr>
      <vt:lpstr>Timeline of the Project (Gantt Chart):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Likith R</cp:lastModifiedBy>
  <cp:revision>47</cp:revision>
  <dcterms:modified xsi:type="dcterms:W3CDTF">2025-11-30T11:23:34Z</dcterms:modified>
</cp:coreProperties>
</file>